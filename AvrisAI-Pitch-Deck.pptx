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6400800"/>
            <a:ext cx="73152" cy="73152"/>
          </a:xfrm>
          <a:prstGeom prst="ellipse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6400800"/>
            <a:ext cx="73152" cy="73152"/>
          </a:xfrm>
          <a:prstGeom prst="ellipse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6400800"/>
            <a:ext cx="73152" cy="73152"/>
          </a:xfrm>
          <a:prstGeom prst="ellipse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7" y="1234440"/>
            <a:ext cx="1463040" cy="15482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269748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F0F4F8"/>
                </a:solidFill>
                <a:latin typeface="Inter"/>
              </a:rPr>
              <a:t>AVRIS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38328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8A98A8"/>
                </a:solidFill>
                <a:latin typeface="Inter"/>
              </a:rPr>
              <a:t>Голосовой AI-ассистент для врачей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8862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4AA391"/>
                </a:solidFill>
                <a:latin typeface="Inter"/>
              </a:rPr>
              <a:t>Voice AI · For Doctors · Central Asia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6634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469087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AA391"/>
                </a:solidFill>
                <a:latin typeface="Inter"/>
              </a:rPr>
              <a:t>Hyperion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71500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8A98A8"/>
                </a:solidFill>
                <a:latin typeface="Inter"/>
              </a:rPr>
              <a:t>Центральная Азия · 2026</a:t>
            </a:r>
          </a:p>
        </p:txBody>
      </p:sp>
      <p:pic>
        <p:nvPicPr>
          <p:cNvPr id="13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01 · ПРОБЛЕМА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8A98A8"/>
                </a:solidFill>
                <a:latin typeface="Inter"/>
              </a:rPr>
              <a:t>Врачи тратят 40% рабочего времени на документацию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047" y="265176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31089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 i="0">
                <a:solidFill>
                  <a:srgbClr val="EF4444"/>
                </a:solidFill>
                <a:latin typeface="Consolas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41148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0F4F8"/>
                </a:solidFill>
                <a:latin typeface="Inter"/>
              </a:rPr>
              <a:t>Времени уходит
на писанину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9927" y="265176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9927" y="31089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 i="0">
                <a:solidFill>
                  <a:srgbClr val="F59E0B"/>
                </a:solidFill>
                <a:latin typeface="Consolas"/>
              </a:rPr>
              <a:t>2-3 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9927" y="41148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0F4F8"/>
                </a:solidFill>
                <a:latin typeface="Inter"/>
              </a:rPr>
              <a:t>В день — на бумажную
работу после смены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1807" y="265176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1807" y="31089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 i="0">
                <a:solidFill>
                  <a:srgbClr val="EF4444"/>
                </a:solidFill>
                <a:latin typeface="Consolas"/>
              </a:rP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1807" y="41148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0F4F8"/>
                </a:solidFill>
                <a:latin typeface="Inter"/>
              </a:rPr>
              <a:t>Записей содержат
ошибки или неполны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349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4AA391"/>
                </a:solidFill>
                <a:latin typeface="Inter"/>
              </a:rPr>
              <a:t>Бумажная работа · Ошибки в назначениях · Выгорание врачей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2 / 16</a:t>
            </a:r>
          </a:p>
        </p:txBody>
      </p:sp>
      <p:pic>
        <p:nvPicPr>
          <p:cNvPr id="20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02 · ПРОДУКТ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Решение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AA391"/>
                </a:solidFill>
                <a:latin typeface="Inter"/>
              </a:rPr>
              <a:t>Врач говорит — AI документирует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8A98A8"/>
                </a:solidFill>
                <a:latin typeface="Inter"/>
              </a:rPr>
              <a:t>Руки свободны. Глаза на пациенте.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327" y="3108960"/>
            <a:ext cx="2377440" cy="21031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327" y="33832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F0F4F8"/>
                </a:solidFill>
                <a:latin typeface="Inter"/>
              </a:rPr>
              <a:t>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42062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0F4F8"/>
                </a:solidFill>
                <a:latin typeface="Inter"/>
              </a:rPr>
              <a:t>Голос врача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327" y="4617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98A8"/>
                </a:solidFill>
                <a:latin typeface="Inter"/>
              </a:rPr>
              <a:t>Естественная речь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5487" y="3995928"/>
            <a:ext cx="274320" cy="329184"/>
          </a:xfrm>
          <a:prstGeom prst="rightArrow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5527" y="3108960"/>
            <a:ext cx="2377440" cy="21031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5527" y="33832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F0F4F8"/>
                </a:solidFill>
                <a:latin typeface="Inter"/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5527" y="42062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0F4F8"/>
                </a:solidFill>
                <a:latin typeface="Inter"/>
              </a:rPr>
              <a:t>Whisper STT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527" y="4617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98A8"/>
                </a:solidFill>
                <a:latin typeface="Inter"/>
              </a:rPr>
              <a:t>OpenAI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58687" y="3995928"/>
            <a:ext cx="274320" cy="329184"/>
          </a:xfrm>
          <a:prstGeom prst="rightArrow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3108960"/>
            <a:ext cx="2377440" cy="21031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727" y="33832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F0F4F8"/>
                </a:solidFill>
                <a:latin typeface="Inter"/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42062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0F4F8"/>
                </a:solidFill>
                <a:latin typeface="Inter"/>
              </a:rPr>
              <a:t>Claude Sonnet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617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98A8"/>
                </a:solidFill>
                <a:latin typeface="Inter"/>
              </a:rPr>
              <a:t>Anthropic LLM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01887" y="3995928"/>
            <a:ext cx="274320" cy="329184"/>
          </a:xfrm>
          <a:prstGeom prst="rightArrow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21927" y="3108960"/>
            <a:ext cx="2377440" cy="21031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1927" y="33832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F0F4F8"/>
                </a:solidFill>
                <a:latin typeface="Inter"/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1927" y="42062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0F4F8"/>
                </a:solidFill>
                <a:latin typeface="Inter"/>
              </a:rPr>
              <a:t>SOAP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1927" y="4617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98A8"/>
                </a:solidFill>
                <a:latin typeface="Inter"/>
              </a:rPr>
              <a:t>Структурированно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3 / 16</a:t>
            </a:r>
          </a:p>
        </p:txBody>
      </p:sp>
      <p:pic>
        <p:nvPicPr>
          <p:cNvPr id="30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03 · ДЕМО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Продукт — экран Осмотра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Запись осмотра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AA391"/>
                </a:solidFill>
                <a:latin typeface="Consolas"/>
              </a:rPr>
              <a:t>ДОКТОР: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3317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Расскажите, что вас беспокоит?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AA391"/>
                </a:solidFill>
                <a:latin typeface="Consolas"/>
              </a:rPr>
              <a:t>ПАЦИЕНТ: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346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Болит голова уже три дня, особенно по утрам.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AA391"/>
                </a:solidFill>
                <a:latin typeface="Consolas"/>
              </a:rPr>
              <a:t>ДОКТОР: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3375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Сейчас измерим. Давление 140 на 90, пульс 88.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AA391"/>
                </a:solidFill>
                <a:latin typeface="Consolas"/>
              </a:rPr>
              <a:t>ДОКТОР: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8404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Это гипертония 2 степени. Назначаю эналаприл 10мг.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83480"/>
            <a:ext cx="2011680" cy="365760"/>
          </a:xfrm>
          <a:prstGeom prst="roundRect">
            <a:avLst>
              <a:gd name="adj" fmla="val 40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017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AA391"/>
                </a:solidFill>
                <a:latin typeface="Inter"/>
              </a:rPr>
              <a:t>🔗 EVIDENCE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SOAP-документация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18745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4AA391"/>
                </a:solidFill>
                <a:latin typeface="Inter"/>
              </a:rPr>
              <a:t>+ Claude Sonnet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423160"/>
            <a:ext cx="54864" cy="77724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3774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AA391"/>
                </a:solidFill>
                <a:latin typeface="Consolas"/>
              </a:rPr>
              <a:t>S — SUBJECTIVE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651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Inter"/>
              </a:rPr>
              <a:t>Жалобы на головную боль 3 дня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337560"/>
            <a:ext cx="54864" cy="77724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2918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AA391"/>
                </a:solidFill>
                <a:latin typeface="Consolas"/>
              </a:rPr>
              <a:t>O — OBJECTIVE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5661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Inter"/>
              </a:rPr>
              <a:t>АД 140/90, пульс 88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4251960"/>
            <a:ext cx="54864" cy="77724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206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AA391"/>
                </a:solidFill>
                <a:latin typeface="Consolas"/>
              </a:rPr>
              <a:t>A — ASSESSMENT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4805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Inter"/>
              </a:rPr>
              <a:t>Гипертония 2 степени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5166360"/>
            <a:ext cx="54864" cy="77724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1206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AA391"/>
                </a:solidFill>
                <a:latin typeface="Consolas"/>
              </a:rPr>
              <a:t>P —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3949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Inter"/>
              </a:rPr>
              <a:t>Эналаприл 10мг утром, контроль АД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8A98A8"/>
                </a:solidFill>
                <a:latin typeface="Inter"/>
              </a:rPr>
              <a:t>Транскрипт диаризован (Доктор/Пациент). Evidence Link связывает фразы с SOAP-полями.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4 / 16</a:t>
            </a:r>
          </a:p>
        </p:txBody>
      </p:sp>
      <p:pic>
        <p:nvPicPr>
          <p:cNvPr id="37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04 · ВОЗМОЖНОСТИ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Ключевые функции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4AA391"/>
                </a:solidFill>
                <a:latin typeface="Inter"/>
              </a:rPr>
              <a:t>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562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Voice-to-SOAP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4028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8A8"/>
                </a:solidFill>
                <a:latin typeface="Inter"/>
              </a:rPr>
              <a:t>Whisper + Claude генерируют структурированную медицинскую документацию из обычной речи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4AA391"/>
                </a:solidFill>
                <a:latin typeface="Inter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562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Lab 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24028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8A8"/>
                </a:solidFill>
                <a:latin typeface="Inter"/>
              </a:rPr>
              <a:t>QR-направления — лаборант сканирует, грузит результаты в один клик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9164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8745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4AA391"/>
                </a:solidFill>
                <a:latin typeface="Inter"/>
              </a:rPr>
              <a:t>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8562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Ночной обход голосом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8A8"/>
                </a:solidFill>
                <a:latin typeface="Inter"/>
              </a:rPr>
              <a:t>Один проход палат — AI распознаёт пациента, витальные, заполняет карточки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8328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4AA391"/>
                </a:solidFill>
                <a:latin typeface="Inter"/>
              </a:rPr>
              <a:t>❤️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4787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ОРИТ мониторинг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8A8"/>
                </a:solidFill>
                <a:latin typeface="Inter"/>
              </a:rPr>
              <a:t>Реал-тайм витальные, вызов врача, drug-conflict alerts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38328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5661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4AA391"/>
                </a:solidFill>
                <a:latin typeface="Inter"/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54787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RU · TJ · 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93192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8A8"/>
                </a:solidFill>
                <a:latin typeface="Inter"/>
              </a:rPr>
              <a:t>Полная локализация для Центральной Азии и СНГ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38328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35661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4AA391"/>
                </a:solidFill>
                <a:latin typeface="Inter"/>
              </a:rPr>
              <a:t>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54787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HIPAA-ready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93192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8A8"/>
                </a:solidFill>
                <a:latin typeface="Inter"/>
              </a:rPr>
              <a:t>Шифрование в покое и в передаче, audit log, GDPR-совместимо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5 / 16</a:t>
            </a:r>
          </a:p>
        </p:txBody>
      </p:sp>
      <p:pic>
        <p:nvPicPr>
          <p:cNvPr id="33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05 · MARKET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Рынок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A98A8"/>
                </a:solidFill>
                <a:latin typeface="Inter"/>
              </a:rPr>
              <a:t>Целевой регион — врачи Центральной Азии и СНГ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Inter"/>
              </a:rPr>
              <a:t>Таджикистан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3472" y="2212848"/>
            <a:ext cx="6858000" cy="292608"/>
          </a:xfrm>
          <a:prstGeom prst="roundRect">
            <a:avLst>
              <a:gd name="adj" fmla="val 40000"/>
            </a:avLst>
          </a:prstGeom>
          <a:solidFill>
            <a:srgbClr val="162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33472" y="2212848"/>
            <a:ext cx="99752" cy="292608"/>
          </a:xfrm>
          <a:prstGeom prst="roundRect">
            <a:avLst>
              <a:gd name="adj" fmla="val 40000"/>
            </a:avLst>
          </a:prstGeom>
          <a:solidFill>
            <a:srgbClr val="3D8A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28632" y="21488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0F4F8"/>
                </a:solidFill>
                <a:latin typeface="Consolas"/>
              </a:rPr>
              <a:t>8 000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2491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Inter"/>
              </a:rPr>
              <a:t>Кыргызстан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2788920"/>
            <a:ext cx="6858000" cy="292608"/>
          </a:xfrm>
          <a:prstGeom prst="roundRect">
            <a:avLst>
              <a:gd name="adj" fmla="val 40000"/>
            </a:avLst>
          </a:prstGeom>
          <a:solidFill>
            <a:srgbClr val="162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33472" y="2788920"/>
            <a:ext cx="199505" cy="292608"/>
          </a:xfrm>
          <a:prstGeom prst="roundRect">
            <a:avLst>
              <a:gd name="adj" fmla="val 40000"/>
            </a:avLst>
          </a:prstGeom>
          <a:solidFill>
            <a:srgbClr val="3D8A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28632" y="272491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0F4F8"/>
                </a:solidFill>
                <a:latin typeface="Consolas"/>
              </a:rPr>
              <a:t>16 000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300984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Inter"/>
              </a:rPr>
              <a:t>Казахстан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33472" y="3364992"/>
            <a:ext cx="6858000" cy="292608"/>
          </a:xfrm>
          <a:prstGeom prst="roundRect">
            <a:avLst>
              <a:gd name="adj" fmla="val 40000"/>
            </a:avLst>
          </a:prstGeom>
          <a:solidFill>
            <a:srgbClr val="162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33472" y="3364992"/>
            <a:ext cx="997527" cy="292608"/>
          </a:xfrm>
          <a:prstGeom prst="roundRect">
            <a:avLst>
              <a:gd name="adj" fmla="val 40000"/>
            </a:avLst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3300984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0F4F8"/>
                </a:solidFill>
                <a:latin typeface="Consolas"/>
              </a:rPr>
              <a:t>80 000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877056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Inter"/>
              </a:rPr>
              <a:t>Узбекистан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33472" y="3941064"/>
            <a:ext cx="6858000" cy="292608"/>
          </a:xfrm>
          <a:prstGeom prst="roundRect">
            <a:avLst>
              <a:gd name="adj" fmla="val 40000"/>
            </a:avLst>
          </a:prstGeom>
          <a:solidFill>
            <a:srgbClr val="162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33472" y="3941064"/>
            <a:ext cx="872836" cy="292608"/>
          </a:xfrm>
          <a:prstGeom prst="roundRect">
            <a:avLst>
              <a:gd name="adj" fmla="val 40000"/>
            </a:avLst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28632" y="3877056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0F4F8"/>
                </a:solidFill>
                <a:latin typeface="Consolas"/>
              </a:rPr>
              <a:t>70 000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45312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Inter"/>
              </a:rPr>
              <a:t>Россия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33472" y="4517136"/>
            <a:ext cx="6858000" cy="292608"/>
          </a:xfrm>
          <a:prstGeom prst="roundRect">
            <a:avLst>
              <a:gd name="adj" fmla="val 40000"/>
            </a:avLst>
          </a:prstGeom>
          <a:solidFill>
            <a:srgbClr val="162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33472" y="4517136"/>
            <a:ext cx="6858000" cy="292608"/>
          </a:xfrm>
          <a:prstGeom prst="roundRect">
            <a:avLst>
              <a:gd name="adj" fmla="val 40000"/>
            </a:avLst>
          </a:prstGeom>
          <a:solidFill>
            <a:srgbClr val="5AB8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28632" y="445312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0F4F8"/>
                </a:solidFill>
                <a:latin typeface="Consolas"/>
              </a:rPr>
              <a:t>550 000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25535" y="2148840"/>
            <a:ext cx="3108960" cy="310896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5535" y="23317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4AA391"/>
                </a:solidFill>
                <a:latin typeface="Inter"/>
              </a:rPr>
              <a:t>TAM / SAM / SOM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9855" y="27889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TAM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4255" y="2788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4AA391"/>
                </a:solidFill>
                <a:latin typeface="Consolas"/>
              </a:rPr>
              <a:t>$500M+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9855" y="3154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8A8"/>
                </a:solidFill>
                <a:latin typeface="Inter"/>
              </a:rPr>
              <a:t>Все врачи СНГ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9855" y="35661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SAM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4255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4AA391"/>
                </a:solidFill>
                <a:latin typeface="Consolas"/>
              </a:rPr>
              <a:t>$50M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9855" y="3931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8A8"/>
                </a:solidFill>
                <a:latin typeface="Inter"/>
              </a:rPr>
              <a:t>ЦА + Россия активно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9855" y="4343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SOM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4255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4AA391"/>
                </a:solidFill>
                <a:latin typeface="Consolas"/>
              </a:rPr>
              <a:t>$5M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9855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8A8"/>
                </a:solidFill>
                <a:latin typeface="Inter"/>
              </a:rPr>
              <a:t>Год 1 · 2,000 врачей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6 / 16</a:t>
            </a:r>
          </a:p>
        </p:txBody>
      </p:sp>
      <p:pic>
        <p:nvPicPr>
          <p:cNvPr id="41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06 · ТАРИФЫ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Бизнес-модель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82880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867" y="21488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0F4F8"/>
                </a:solidFill>
                <a:latin typeface="Inter"/>
              </a:rPr>
              <a:t>Basic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67" y="26060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AA391"/>
                </a:solidFill>
                <a:latin typeface="Consolas"/>
              </a:rPr>
              <a:t>$19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867" y="32461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98A8"/>
                </a:solidFill>
                <a:latin typeface="Inter"/>
              </a:rPr>
              <a:t>/мес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467" y="36576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✓ 100 приёмов/мес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467" y="40233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✓ SOAP + транскрипт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467" y="43891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✓ Email-поддержка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5507" y="182880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38447" y="1664208"/>
            <a:ext cx="1280160" cy="329184"/>
          </a:xfrm>
          <a:prstGeom prst="roundRect">
            <a:avLst>
              <a:gd name="adj" fmla="val 40000"/>
            </a:avLst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38447" y="168249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0E18"/>
                </a:solidFill>
                <a:latin typeface="Inter"/>
              </a:rPr>
              <a:t>POPULAR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5507" y="21488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0F4F8"/>
                </a:solidFill>
                <a:latin typeface="Inter"/>
              </a:rP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5507" y="26060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AA391"/>
                </a:solidFill>
                <a:latin typeface="Consolas"/>
              </a:rPr>
              <a:t>$39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5507" y="32461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98A8"/>
                </a:solidFill>
                <a:latin typeface="Inter"/>
              </a:rPr>
              <a:t>/мес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4107" y="36576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✓ Безлимит приёмов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4107" y="40233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✓ Lab 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4107" y="43891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✓ Приоритет-поддержка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147" y="182880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0147" y="21488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0F4F8"/>
                </a:solidFill>
                <a:latin typeface="Inter"/>
              </a:rPr>
              <a:t>Clinical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0147" y="26060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AA391"/>
                </a:solidFill>
                <a:latin typeface="Consolas"/>
              </a:rPr>
              <a:t>$199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0147" y="32461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98A8"/>
                </a:solidFill>
                <a:latin typeface="Inter"/>
              </a:rPr>
              <a:t>/мес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747" y="36576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✓ До 10 врачей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8747" y="40233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✓ Общий лог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8747" y="43891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✓ Кастомизация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4787" y="182880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4787" y="21488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0F4F8"/>
                </a:solidFill>
                <a:latin typeface="Inter"/>
              </a:rPr>
              <a:t>Hospital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4787" y="26060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AA391"/>
                </a:solidFill>
                <a:latin typeface="Consolas"/>
              </a:rPr>
              <a:t>$599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4787" y="32461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98A8"/>
                </a:solidFill>
                <a:latin typeface="Inter"/>
              </a:rPr>
              <a:t>/мес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3387" y="36576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✓ До 40 врачей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3387" y="40233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✓ SLA 99.9%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3387" y="43891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✓ Dedicated CSM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4AA391"/>
                </a:solidFill>
                <a:latin typeface="Inter"/>
              </a:rPr>
              <a:t>Маржа 90%+ · Стоимость API ~$0.50 на 100 приёмов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7 / 16</a:t>
            </a:r>
          </a:p>
        </p:txBody>
      </p:sp>
      <p:pic>
        <p:nvPicPr>
          <p:cNvPr id="40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07 ·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Технологии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" cy="214884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391"/>
                </a:solidFill>
                <a:latin typeface="Inter"/>
              </a:rPr>
              <a:t>AI /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OpenAI Whisper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8A8"/>
                </a:solidFill>
                <a:latin typeface="Inter"/>
              </a:rPr>
              <a:t>STT · 100+ языков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Claude Sonnet 4.6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8A8"/>
                </a:solidFill>
                <a:latin typeface="Inter"/>
              </a:rPr>
              <a:t>Anthropic ·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54864" cy="214884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391"/>
                </a:solidFill>
                <a:latin typeface="Inter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317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FastAPI + Python 3.11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8A8"/>
                </a:solidFill>
                <a:latin typeface="Inter"/>
              </a:rPr>
              <a:t>Async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91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8A8"/>
                </a:solidFill>
                <a:latin typeface="Inter"/>
              </a:rPr>
              <a:t>Managed · Railway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1480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114800"/>
            <a:ext cx="54864" cy="214884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391"/>
                </a:solidFill>
                <a:latin typeface="Inter"/>
              </a:rPr>
              <a:t>Frontend / Infra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Vanilla JS SPA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8A8"/>
                </a:solidFill>
                <a:latin typeface="Inter"/>
              </a:rPr>
              <a:t>Лёгкий · 2.5 MB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Cloudflare + Railway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715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8A8"/>
                </a:solidFill>
                <a:latin typeface="Inter"/>
              </a:rPr>
              <a:t>Edge + CI/CD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1480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114800"/>
            <a:ext cx="54864" cy="214884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391"/>
                </a:solidFill>
                <a:latin typeface="Inter"/>
              </a:rPr>
              <a:t>Безопасность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548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HIPAA-ready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074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8A8"/>
                </a:solidFill>
                <a:latin typeface="Inter"/>
              </a:rPr>
              <a:t>Шифрование AES-256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394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JWT + bcrypt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715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8A8"/>
                </a:solidFill>
                <a:latin typeface="Inter"/>
              </a:rPr>
              <a:t>Audit log + RBAC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8 / 16</a:t>
            </a:r>
          </a:p>
        </p:txBody>
      </p:sp>
      <p:pic>
        <p:nvPicPr>
          <p:cNvPr id="37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08 · РЫНОК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Конкуренты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916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F4F8"/>
                </a:solidFill>
                <a:latin typeface="Inter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1691640"/>
            <a:ext cx="1920240" cy="502920"/>
          </a:xfrm>
          <a:prstGeom prst="roundRect">
            <a:avLst>
              <a:gd name="adj" fmla="val 5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16916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F4F8"/>
                </a:solidFill>
                <a:latin typeface="Inter"/>
              </a:rPr>
              <a:t>Abridge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691640"/>
            <a:ext cx="1920240" cy="502920"/>
          </a:xfrm>
          <a:prstGeom prst="roundRect">
            <a:avLst>
              <a:gd name="adj" fmla="val 5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6916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F4F8"/>
                </a:solidFill>
                <a:latin typeface="Inter"/>
              </a:rPr>
              <a:t>Suki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691640"/>
            <a:ext cx="1920240" cy="502920"/>
          </a:xfrm>
          <a:prstGeom prst="roundRect">
            <a:avLst>
              <a:gd name="adj" fmla="val 5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916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F4F8"/>
                </a:solidFill>
                <a:latin typeface="Inter"/>
              </a:rPr>
              <a:t>Nuance DAX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69164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6916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AA391"/>
                </a:solidFill>
                <a:latin typeface="Inter"/>
              </a:rPr>
              <a:t>Avris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194560"/>
            <a:ext cx="1828800" cy="502920"/>
          </a:xfrm>
          <a:prstGeom prst="roundRect">
            <a:avLst>
              <a:gd name="adj" fmla="val 6000"/>
            </a:avLst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1945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Inter"/>
              </a:rPr>
              <a:t>Языки СНГ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42032" y="219456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42032" y="21945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Inter"/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219456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21945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Inter"/>
              </a:rP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219456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1945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Inter"/>
              </a:rP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2752" y="2194560"/>
            <a:ext cx="2286000" cy="502920"/>
          </a:xfrm>
          <a:prstGeom prst="roundRect">
            <a:avLst>
              <a:gd name="adj" fmla="val 4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219456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AA391"/>
                </a:solidFill>
                <a:latin typeface="Inter"/>
              </a:rPr>
              <a:t>RU + TJ + 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2697480"/>
            <a:ext cx="1828800" cy="502920"/>
          </a:xfrm>
          <a:prstGeom prst="roundRect">
            <a:avLst>
              <a:gd name="adj" fmla="val 6000"/>
            </a:avLst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26974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Inter"/>
              </a:rPr>
              <a:t>Таджикский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42032" y="269748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42032" y="269748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Inter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62272" y="269748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2272" y="269748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Inter"/>
              </a:rPr>
              <a:t>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82512" y="269748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269748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Inter"/>
              </a:rPr>
              <a:t>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02752" y="2697480"/>
            <a:ext cx="2286000" cy="502920"/>
          </a:xfrm>
          <a:prstGeom prst="roundRect">
            <a:avLst>
              <a:gd name="adj" fmla="val 4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26974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AA391"/>
                </a:solidFill>
                <a:latin typeface="Inter"/>
              </a:rPr>
              <a:t>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3200400"/>
            <a:ext cx="1828800" cy="502920"/>
          </a:xfrm>
          <a:prstGeom prst="roundRect">
            <a:avLst>
              <a:gd name="adj" fmla="val 6000"/>
            </a:avLst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320040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Inter"/>
              </a:rPr>
              <a:t>Lab Connect (QR)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42032" y="320040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42032" y="32004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Inter"/>
              </a:rPr>
              <a:t>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62272" y="320040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62272" y="32004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Inter"/>
              </a:rPr>
              <a:t>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82512" y="320040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32004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Inter"/>
              </a:rPr>
              <a:t>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02752" y="3200400"/>
            <a:ext cx="2286000" cy="502920"/>
          </a:xfrm>
          <a:prstGeom prst="roundRect">
            <a:avLst>
              <a:gd name="adj" fmla="val 4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32004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AA391"/>
                </a:solidFill>
                <a:latin typeface="Inter"/>
              </a:rPr>
              <a:t>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3703320"/>
            <a:ext cx="1828800" cy="502920"/>
          </a:xfrm>
          <a:prstGeom prst="roundRect">
            <a:avLst>
              <a:gd name="adj" fmla="val 6000"/>
            </a:avLst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37033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Inter"/>
              </a:rPr>
              <a:t>ОРИТ-мониторинг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42032" y="370332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42032" y="3703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Inter"/>
              </a:rPr>
              <a:t>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62272" y="370332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62272" y="3703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Inter"/>
              </a:rP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82512" y="370332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82512" y="3703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Inter"/>
              </a:rPr>
              <a:t>ограничен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02752" y="3703320"/>
            <a:ext cx="2286000" cy="502920"/>
          </a:xfrm>
          <a:prstGeom prst="roundRect">
            <a:avLst>
              <a:gd name="adj" fmla="val 4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02752" y="37033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AA391"/>
                </a:solidFill>
                <a:latin typeface="Inter"/>
              </a:rPr>
              <a:t>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3232" y="4206240"/>
            <a:ext cx="1828800" cy="502920"/>
          </a:xfrm>
          <a:prstGeom prst="roundRect">
            <a:avLst>
              <a:gd name="adj" fmla="val 6000"/>
            </a:avLst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2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Inter"/>
              </a:rPr>
              <a:t>Цена/врач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542032" y="420624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2032" y="4206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Inter"/>
              </a:rPr>
              <a:t>$200+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62272" y="420624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62272" y="4206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Inter"/>
              </a:rPr>
              <a:t>$130+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82512" y="420624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82512" y="4206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Inter"/>
              </a:rPr>
              <a:t>$300+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02752" y="4206240"/>
            <a:ext cx="2286000" cy="502920"/>
          </a:xfrm>
          <a:prstGeom prst="roundRect">
            <a:avLst>
              <a:gd name="adj" fmla="val 4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02752" y="42062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AA391"/>
                </a:solidFill>
                <a:latin typeface="Inter"/>
              </a:rPr>
              <a:t>$19–39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3232" y="4709160"/>
            <a:ext cx="1828800" cy="502920"/>
          </a:xfrm>
          <a:prstGeom prst="roundRect">
            <a:avLst>
              <a:gd name="adj" fmla="val 6000"/>
            </a:avLst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392" y="47091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Inter"/>
              </a:rPr>
              <a:t>Регион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542032" y="470916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42032" y="47091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Inter"/>
              </a:rPr>
              <a:t>США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462272" y="470916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62272" y="47091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Inter"/>
              </a:rPr>
              <a:t>США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82512" y="4709160"/>
            <a:ext cx="192024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82512" y="47091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Inter"/>
              </a:rPr>
              <a:t>США/EU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302752" y="4709160"/>
            <a:ext cx="2286000" cy="502920"/>
          </a:xfrm>
          <a:prstGeom prst="roundRect">
            <a:avLst>
              <a:gd name="adj" fmla="val 4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02752" y="470916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AA391"/>
                </a:solidFill>
                <a:latin typeface="Inter"/>
              </a:rPr>
              <a:t>СНГ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A391"/>
                </a:solidFill>
                <a:latin typeface="Inter"/>
              </a:rPr>
              <a:t>Avris AI — единственный продукт для СНГ с поддержкой таджикского, узбекского и казахского.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9 / 16</a:t>
            </a:r>
          </a:p>
        </p:txBody>
      </p:sp>
      <p:pic>
        <p:nvPicPr>
          <p:cNvPr id="80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09 · ПРОГРЕСС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4AA391"/>
                </a:solidFill>
                <a:latin typeface="Inter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0195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Прототип готов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8A8"/>
                </a:solidFill>
                <a:latin typeface="Inter"/>
              </a:rPr>
              <a:t>Все ключевые функции работают: SOAP, транскрипт, Lab Connect, ОРИТ, ночной обход. Раздел Settings, профиль, аутентификация —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4AA391"/>
                </a:solidFill>
                <a:latin typeface="Inter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9923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Домен живой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375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8A8"/>
                </a:solidFill>
                <a:latin typeface="Inter"/>
              </a:rPr>
              <a:t>theavris.ai — backend на Railway, PostgreSQL, HTTPS, OAuth Google + Mail.ru. Готовый production-deploy.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4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4AA391"/>
                </a:solidFill>
                <a:latin typeface="Inter"/>
              </a:rPr>
              <a:t>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965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Пилот: 10 врачей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348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8A8"/>
                </a:solidFill>
                <a:latin typeface="Inter"/>
              </a:rPr>
              <a:t>Запуск пилотной программы в ГКБ №1 Душанбе. Первые врачи приглашены.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035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4AA391"/>
                </a:solidFill>
                <a:latin typeface="Inter"/>
              </a:rP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9379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Letter of 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321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8A8"/>
                </a:solidFill>
                <a:latin typeface="Inter"/>
              </a:rPr>
              <a:t>Главврач ГКБ №1 Душанбе подтвердил готовность пилотировать на отделениях кардиологии и терапии.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10 / 16</a:t>
            </a:r>
          </a:p>
        </p:txBody>
      </p:sp>
      <p:pic>
        <p:nvPicPr>
          <p:cNvPr id="25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10 · ПЛАН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567" y="1691640"/>
            <a:ext cx="2697480" cy="39319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6567" y="1691640"/>
            <a:ext cx="2697480" cy="64008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567" y="19202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AA391"/>
                </a:solidFill>
                <a:latin typeface="Consolas"/>
              </a:rPr>
              <a:t>Q2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567" y="228600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8A98A8"/>
                </a:solidFill>
                <a:latin typeface="Inter"/>
              </a:rPr>
              <a:t>ПИЛОТ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28803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▸ 10 врачей · Душанбе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" y="33832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▸ ГКБ №1 — кардиология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" y="3886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▸ Whisper + Claude 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6927" y="1691640"/>
            <a:ext cx="2697480" cy="39319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5AB8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6927" y="1691640"/>
            <a:ext cx="2697480" cy="64008"/>
          </a:xfrm>
          <a:prstGeom prst="rect">
            <a:avLst/>
          </a:prstGeom>
          <a:solidFill>
            <a:srgbClr val="5AB8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6927" y="19202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AB8A1"/>
                </a:solidFill>
                <a:latin typeface="Consolas"/>
              </a:rPr>
              <a:t>Q3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6927" y="228600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8A98A8"/>
                </a:solidFill>
                <a:latin typeface="Inter"/>
              </a:rPr>
              <a:t>РАСШИРЕНИЕ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9807" y="28803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▸ 100 врачей · Таджикистан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9807" y="33832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▸ Lab Connect реальный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9807" y="3886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▸ Партнёр-клиники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1691640"/>
            <a:ext cx="2697480" cy="39319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7287" y="1691640"/>
            <a:ext cx="26974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7287" y="19202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onsolas"/>
              </a:rPr>
              <a:t>Q4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7287" y="228600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8A98A8"/>
                </a:solidFill>
                <a:latin typeface="Inter"/>
              </a:rPr>
              <a:t>РЕГИОН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28803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▸ Казахстан + Кыргызстан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33832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▸ iOS / Android приложение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3886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▸ Voice-only режим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7647" y="1691640"/>
            <a:ext cx="2697480" cy="393192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67647" y="1691640"/>
            <a:ext cx="26974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7647" y="19202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onsolas"/>
              </a:rPr>
              <a:t>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7647" y="228600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8A98A8"/>
                </a:solidFill>
                <a:latin typeface="Inter"/>
              </a:rPr>
              <a:t>GLOBAL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0527" y="28803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▸ Узбекистан + Saudi Arabia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0527" y="33832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▸ Арабский, фарси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0527" y="3886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Inter"/>
              </a:rPr>
              <a:t>▸ EHR-интеграции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11 / 16</a:t>
            </a:r>
          </a:p>
        </p:txBody>
      </p:sp>
      <p:pic>
        <p:nvPicPr>
          <p:cNvPr id="37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11 · ФИНАНСЫ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Финансовые прогнозы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2377440" cy="502920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91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F4F8"/>
                </a:solidFill>
                <a:latin typeface="Inter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0672" y="169164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16916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F4F8"/>
                </a:solidFill>
                <a:latin typeface="Inter"/>
              </a:rPr>
              <a:t>Бета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9472" y="169164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6916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F4F8"/>
                </a:solidFill>
                <a:latin typeface="Inter"/>
              </a:rPr>
              <a:t>Год 1 (2026)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4032" y="169164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16916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0F4F8"/>
                </a:solidFill>
                <a:latin typeface="Inter"/>
              </a:rPr>
              <a:t>Год 2 (2027)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08592" y="169164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16916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AA391"/>
                </a:solidFill>
                <a:latin typeface="Inter"/>
              </a:rPr>
              <a:t>Год 3 (2028)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194560"/>
            <a:ext cx="2377440" cy="502920"/>
          </a:xfrm>
          <a:prstGeom prst="roundRect">
            <a:avLst>
              <a:gd name="adj" fmla="val 6000"/>
            </a:avLst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1945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Inter"/>
              </a:rPr>
              <a:t>Активные врачи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90672" y="219456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21945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19472" y="219456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9472" y="21945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14032" y="219456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21945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500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219456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21945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AA391"/>
                </a:solidFill>
                <a:latin typeface="Consolas"/>
              </a:rPr>
              <a:t>2 000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2697480"/>
            <a:ext cx="2377440" cy="502920"/>
          </a:xfrm>
          <a:prstGeom prst="roundRect">
            <a:avLst>
              <a:gd name="adj" fmla="val 6000"/>
            </a:avLst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26974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Inter"/>
              </a:rPr>
              <a:t>Выручка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90672" y="269748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90672" y="26974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$0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19472" y="269748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19472" y="26974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$50K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14032" y="269748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14032" y="26974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$250K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08592" y="269748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2" y="26974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AA391"/>
                </a:solidFill>
                <a:latin typeface="Consolas"/>
              </a:rPr>
              <a:t>$1.0M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3200400"/>
            <a:ext cx="2377440" cy="502920"/>
          </a:xfrm>
          <a:prstGeom prst="roundRect">
            <a:avLst>
              <a:gd name="adj" fmla="val 6000"/>
            </a:avLst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32004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Inter"/>
              </a:rPr>
              <a:t>API-расходы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90672" y="320040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90672" y="32004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$46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19472" y="320040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19472" y="32004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$5K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14032" y="320040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14032" y="32004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$25K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08592" y="320040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08592" y="32004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AA391"/>
                </a:solidFill>
                <a:latin typeface="Consolas"/>
              </a:rPr>
              <a:t>$100K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3703320"/>
            <a:ext cx="2377440" cy="502920"/>
          </a:xfrm>
          <a:prstGeom prst="roundRect">
            <a:avLst>
              <a:gd name="adj" fmla="val 6000"/>
            </a:avLst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37033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Inter"/>
              </a:rPr>
              <a:t>Валовая маржа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90672" y="370332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90672" y="37033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19472" y="370332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37033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~90%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14032" y="370332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14032" y="37033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~90%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08592" y="370332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08592" y="37033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AA391"/>
                </a:solidFill>
                <a:latin typeface="Consolas"/>
              </a:rPr>
              <a:t>~90%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3232" y="4206240"/>
            <a:ext cx="2377440" cy="502920"/>
          </a:xfrm>
          <a:prstGeom prst="roundRect">
            <a:avLst>
              <a:gd name="adj" fmla="val 6000"/>
            </a:avLst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2" y="42062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Inter"/>
              </a:rPr>
              <a:t>Чистая маржа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90672" y="420624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90672" y="42062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19472" y="420624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19472" y="42062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~30%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14032" y="420624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14032" y="42062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onsolas"/>
              </a:rPr>
              <a:t>~50%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308592" y="4206240"/>
            <a:ext cx="2194560" cy="502920"/>
          </a:xfrm>
          <a:prstGeom prst="roundRect">
            <a:avLst>
              <a:gd name="adj" fmla="val 4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08592" y="42062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AA391"/>
                </a:solidFill>
                <a:latin typeface="Consolas"/>
              </a:rPr>
              <a:t>~60%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A391"/>
                </a:solidFill>
                <a:latin typeface="Inter"/>
              </a:rPr>
              <a:t>B2C subscription · 90%+ маржа · path к break-even в Год 1 на 100 врачах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12 / 16</a:t>
            </a:r>
          </a:p>
        </p:txBody>
      </p:sp>
      <p:pic>
        <p:nvPicPr>
          <p:cNvPr id="70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12 ·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Команда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707" y="18288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6727" y="2240280"/>
            <a:ext cx="1005840" cy="1005840"/>
          </a:xfrm>
          <a:prstGeom prst="ellipse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6727" y="224028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80E18"/>
                </a:solidFill>
                <a:latin typeface="Inter"/>
              </a:rPr>
              <a:t>SN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587" y="3383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0F4F8"/>
                </a:solidFill>
                <a:latin typeface="Inter"/>
              </a:rPr>
              <a:t>Shahzod Narzulloev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587" y="37490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A391"/>
                </a:solidFill>
                <a:latin typeface="Inter"/>
              </a:rPr>
              <a:t>CEO &amp; Founder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" y="416052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98A8"/>
                </a:solidFill>
                <a:latin typeface="Inter"/>
              </a:rPr>
              <a:t>6 курс медицинского университета, Душанбе.
Клинический опыт + инженерия. Видит проблему изнутри.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9907" y="18288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92927" y="2240280"/>
            <a:ext cx="1005840" cy="1005840"/>
          </a:xfrm>
          <a:prstGeom prst="ellipse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2927" y="224028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80E18"/>
                </a:solidFill>
                <a:latin typeface="Inter"/>
              </a:rPr>
              <a:t>C#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2787" y="3383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0F4F8"/>
                </a:solidFill>
                <a:latin typeface="Inter"/>
              </a:rPr>
              <a:t>Co-founder 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2787" y="37490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A391"/>
                </a:solidFill>
                <a:latin typeface="Inter"/>
              </a:rPr>
              <a:t>Financial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8507" y="416052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98A8"/>
                </a:solidFill>
                <a:latin typeface="Inter"/>
              </a:rPr>
              <a:t>Финансовая стратегия,
операционная поддержка проекта.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6107" y="18288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9127" y="2240280"/>
            <a:ext cx="1005840" cy="1005840"/>
          </a:xfrm>
          <a:prstGeom prst="ellipse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9127" y="224028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80E18"/>
                </a:solidFill>
                <a:latin typeface="Inter"/>
              </a:rPr>
              <a:t>C#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8987" y="3383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0F4F8"/>
                </a:solidFill>
                <a:latin typeface="Inter"/>
              </a:rPr>
              <a:t>Co-founder #2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8987" y="37490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A391"/>
                </a:solidFill>
                <a:latin typeface="Inter"/>
              </a:rPr>
              <a:t>Investor Relations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4707" y="416052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98A8"/>
                </a:solidFill>
                <a:latin typeface="Inter"/>
              </a:rPr>
              <a:t>Связи с инвесторами,
развитие партнёрской сети.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4AA391"/>
                </a:solidFill>
                <a:latin typeface="Inter"/>
              </a:rPr>
              <a:t>Hyperion Labs · Dushanbe, Tajikistan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13 / 16</a:t>
            </a:r>
          </a:p>
        </p:txBody>
      </p:sp>
      <p:pic>
        <p:nvPicPr>
          <p:cNvPr id="28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13 · 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Инвестиционное предложение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5303520" cy="2468880"/>
          </a:xfrm>
          <a:prstGeom prst="roundRect">
            <a:avLst>
              <a:gd name="adj" fmla="val 6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4AA391"/>
                </a:solidFill>
                <a:latin typeface="Inter"/>
              </a:rPr>
              <a:t>ИЩЕМ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8600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4AA391"/>
                </a:solidFill>
                <a:latin typeface="Consolas"/>
              </a:rPr>
              <a:t>$100,000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20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0F4F8"/>
                </a:solidFill>
                <a:latin typeface="Inter"/>
              </a:rPr>
              <a:t>за 5–10% equity · оценка $1–2M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391"/>
                </a:solidFill>
                <a:latin typeface="Inter"/>
              </a:rPr>
              <a:t>ИСПОЛЬЗОВАНИЕ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5029200" cy="77724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Команда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22860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4AA391"/>
                </a:solidFill>
                <a:latin typeface="Consolas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517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8A8"/>
                </a:solidFill>
                <a:latin typeface="Inter"/>
              </a:rPr>
              <a:t>Расширение разработки и клинической поддержки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108960"/>
            <a:ext cx="5029200" cy="77724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Продукт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32004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4AA391"/>
                </a:solidFill>
                <a:latin typeface="Consolas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661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8A8"/>
                </a:solidFill>
                <a:latin typeface="Inter"/>
              </a:rPr>
              <a:t>Интеграции, мобильное приложение, EHR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5029200" cy="77724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Маркетинг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4114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4AA391"/>
                </a:solidFill>
                <a:latin typeface="Consolas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4805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8A8"/>
                </a:solidFill>
                <a:latin typeface="Inter"/>
              </a:rPr>
              <a:t>Пилоты, конференции, B2B-партнёры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A391"/>
                </a:solidFill>
                <a:latin typeface="Inter"/>
              </a:rPr>
              <a:t>Достаточно довести продукт до 500 платящих врачей. Год 2 — выход на безубыточность.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14 / 16</a:t>
            </a:r>
          </a:p>
        </p:txBody>
      </p:sp>
      <p:pic>
        <p:nvPicPr>
          <p:cNvPr id="27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228600"/>
            <a:ext cx="411480" cy="43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391"/>
                </a:solidFill>
                <a:latin typeface="Inter"/>
              </a:rPr>
              <a:t>14 · TIMING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64008" cy="502920"/>
          </a:xfrm>
          <a:prstGeom prst="rect">
            <a:avLst/>
          </a:prstGeom>
          <a:solidFill>
            <a:srgbClr val="4AA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Inter"/>
              </a:rPr>
              <a:t>Почему сейчас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4AA391"/>
                </a:solidFill>
                <a:latin typeface="Inter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745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AI-революция в медицине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40280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8A8"/>
                </a:solidFill>
                <a:latin typeface="Inter"/>
              </a:rPr>
              <a:t>Whisper и Claude достигли клинической точности в 2024–2025. SOAP-генерация теперь надёжна на русском.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4AA391"/>
                </a:solidFill>
                <a:latin typeface="Inter"/>
              </a:rPr>
              <a:t>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8745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СНГ-рынок не охвачен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240280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8A8"/>
                </a:solidFill>
                <a:latin typeface="Inter"/>
              </a:rPr>
              <a:t>Abridge, Suki, Nuance работают только на английском. Никто не делает медицинский AI для региона.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947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4AA391"/>
                </a:solidFill>
                <a:latin typeface="Inter"/>
              </a:rPr>
              <a:t>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776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Команда внутри медицины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43400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8A8"/>
                </a:solidFill>
                <a:latin typeface="Inter"/>
              </a:rPr>
              <a:t>CEO — действующий студент-медик в Душанбе. Прямой доступ к врачам, клиникам, инсайт изнутри.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947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22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4AA391"/>
                </a:solidFill>
                <a:latin typeface="Inter"/>
              </a:rP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9776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Inter"/>
              </a:rPr>
              <a:t>Продукт готов к запуску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343400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8A8"/>
                </a:solidFill>
                <a:latin typeface="Inter"/>
              </a:rPr>
              <a:t>Production-deploy на theavris.ai. Все ключевые функции работают. Пилот стартует в Q2.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8A8"/>
                </a:solidFill>
                <a:latin typeface="Inter"/>
              </a:rPr>
              <a:t>Hyperion Labs · Avris AI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8A8"/>
                </a:solidFill>
                <a:latin typeface="Inter"/>
              </a:rPr>
              <a:t>15 / 16</a:t>
            </a:r>
          </a:p>
        </p:txBody>
      </p:sp>
      <p:pic>
        <p:nvPicPr>
          <p:cNvPr id="25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7" y="1234440"/>
            <a:ext cx="1463040" cy="15482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69748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F0F4F8"/>
                </a:solidFill>
                <a:latin typeface="Inter"/>
              </a:rPr>
              <a:t>Свяжитесь с нами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66847" y="3749039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41167" y="3749039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4AA391"/>
                </a:solidFill>
                <a:latin typeface="Inter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5527" y="3749039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0F4F8"/>
                </a:solidFill>
                <a:latin typeface="Inter"/>
              </a:rPr>
              <a:t>theavris.ai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3749039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162437"/>
          </a:solidFill>
          <a:ln w="15875">
            <a:solidFill>
              <a:srgbClr val="4AA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3749039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4AA391"/>
                </a:solidFill>
                <a:latin typeface="Inter"/>
              </a:rPr>
              <a:t>✉️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3749039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0F4F8"/>
                </a:solidFill>
                <a:latin typeface="Inter"/>
              </a:rPr>
              <a:t>info@theavris.ai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02920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4AA391"/>
                </a:solidFill>
                <a:latin typeface="Inter"/>
              </a:rPr>
              <a:t>Avris AI · Hyperion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8A98A8"/>
                </a:solidFill>
                <a:latin typeface="Inter"/>
              </a:rPr>
              <a:t>© 2026 · Dushanbe, Tajikistan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4AA391"/>
                </a:solidFill>
                <a:latin typeface="Inter"/>
              </a:rPr>
              <a:t>Спасибо.</a:t>
            </a:r>
          </a:p>
        </p:txBody>
      </p:sp>
      <p:pic>
        <p:nvPicPr>
          <p:cNvPr id="14" name="avris_logo_bad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375" y="27432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